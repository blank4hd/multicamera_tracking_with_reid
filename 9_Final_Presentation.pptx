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64592" cy="5943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024360" y="457200"/>
            <a:ext cx="164592" cy="5943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Multi-Camera Object Tracking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55648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B4D8"/>
                </a:solidFill>
              </a:rPr>
              <a:t>with Person Re-Identification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2816352"/>
            <a:ext cx="85039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4436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F1F5F9"/>
                </a:solidFill>
              </a:rPr>
              <a:t>Masters Program  |  Computer Vision &amp;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CV Group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78224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3C5FD"/>
                </a:solidFill>
              </a:rPr>
              <a:t>Chanakya Chelamkuri (121305602)   ·   Vineet Jujjavarapu (121322340)   ·   Manoj Kumar Bashaboina (121333377)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00016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9E0B"/>
                </a:solidFill>
              </a:rPr>
              <a:t>Presentation Date: May 5,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2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21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04672"/>
            <a:ext cx="11521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B4D8"/>
                </a:solidFill>
              </a:rPr>
              <a:t>The Cross-Camera Identity Gap in Modern Surveillance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98448"/>
            <a:ext cx="5440680" cy="5102352"/>
          </a:xfrm>
          <a:prstGeom prst="rect">
            <a:avLst/>
          </a:prstGeom>
          <a:solidFill>
            <a:srgbClr val="EBF4FF"/>
          </a:solidFill>
          <a:ln w="10160">
            <a:solidFill>
              <a:srgbClr val="1D4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98448"/>
            <a:ext cx="5440680" cy="32918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34416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THE CHALLENGE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29384"/>
            <a:ext cx="100584" cy="10058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801368"/>
            <a:ext cx="10927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</a:rPr>
              <a:t>Surveillance systems have many cameras covering overlapping zones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697480"/>
            <a:ext cx="100584" cy="10058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2569464"/>
            <a:ext cx="10927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</a:rPr>
              <a:t>Each camera assigns local, independent track IDs from scratch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465576"/>
            <a:ext cx="100584" cy="10058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3337560"/>
            <a:ext cx="10927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</a:rPr>
              <a:t>When a person moves between camera views, a brand-new identity is assigned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233672"/>
            <a:ext cx="100584" cy="10058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4105656"/>
            <a:ext cx="10927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</a:rPr>
              <a:t>No globally consistent person tracking across the scene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001768"/>
            <a:ext cx="100584" cy="10058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4873752"/>
            <a:ext cx="10927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</a:rPr>
              <a:t>Makes people analytics, search, and security monitoring infeasible at scale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1298448"/>
            <a:ext cx="5669280" cy="5102352"/>
          </a:xfrm>
          <a:prstGeom prst="rect">
            <a:avLst/>
          </a:prstGeom>
          <a:solidFill>
            <a:srgbClr val="E0F7FA"/>
          </a:solidFill>
          <a:ln w="101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1298448"/>
            <a:ext cx="5669280" cy="3291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1344168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OUR PIPELINE SOLUTION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7648" y="1929384"/>
            <a:ext cx="100584" cy="1005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1801368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</a:rPr>
              <a:t>Detect all pedestrians per frame — YOLOv8 person-class filter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7648" y="2697480"/>
            <a:ext cx="100584" cy="1005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28816" y="2569464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</a:rPr>
              <a:t>Maintain per-camera track IDs — SORT (Kalman + Hungarian IoU)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27648" y="3465576"/>
            <a:ext cx="100584" cy="1005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28816" y="3337560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</a:rPr>
              <a:t>Encode each person's appearance — ResNet-50 + BNNeck Re-ID model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27648" y="4233672"/>
            <a:ext cx="100584" cy="1005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8816" y="4105656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</a:rPr>
              <a:t>Refine intra-camera tracking — DeepSORT (appearance + IoU cascade)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27648" y="5001768"/>
            <a:ext cx="100584" cy="1005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28816" y="4873752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</a:rPr>
              <a:t>Cluster track embeddings across cameras — cosine similarity → globally consistent person IDs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6473952"/>
            <a:ext cx="11548872" cy="274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501384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✓  Scope unchanged from original proposal   ·   No fallback plan required   ·   75–80% complete at Phase 1 milestone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2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21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Technical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04672"/>
            <a:ext cx="11521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B4D8"/>
                </a:solidFill>
              </a:rPr>
              <a:t>Five-Stage End-to-End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53312"/>
            <a:ext cx="411480" cy="41148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35331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325880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74D"/>
                </a:solidFill>
              </a:rPr>
              <a:t>Person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691640"/>
            <a:ext cx="7589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Ultralytics YOLOv8 with person-class filter  ·  Conf 0.5 / NMS IoU 0.45  ·  ~30 FPS (yolov8n) / ~15 FPS (yolov8m) at 1080p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322576"/>
            <a:ext cx="411480" cy="41148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32257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295144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74D"/>
                </a:solidFill>
              </a:rPr>
              <a:t>Single-Camera Tracking  (SORT)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660904"/>
            <a:ext cx="7589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Custom 7-D Kalman filter  ·  Hungarian assignment on IoU cost matrix  ·  Track lifecycle: init → active → lost  ·  Evaluated on MOT17 with TrackEval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291840"/>
            <a:ext cx="411480" cy="41148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3291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264408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74D"/>
                </a:solidFill>
              </a:rPr>
              <a:t>Appearance Model  —  Person Re-ID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3630168"/>
            <a:ext cx="7589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ResNet-50 + BNNeck  ·  L2-normalized 512-D embeddings  ·  Market-1501 training (60 epochs, Adam, warmup+step)  ·  CE + batch-hard triplet loss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261104"/>
            <a:ext cx="411480" cy="41148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426110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233672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74D"/>
                </a:solidFill>
              </a:rPr>
              <a:t>Appearance-Augmented Tracking  (DeepSORT)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599432"/>
            <a:ext cx="7589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Per-track embedding gallery  ·  Two-stage cascade: cosine distance then IoU gate  ·  Expected +5–10 IDF1 improvement over SORT baseline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230368"/>
            <a:ext cx="411480" cy="41148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523036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5202936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74D"/>
                </a:solidFill>
              </a:rPr>
              <a:t>Cross-Camera Matching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5568696"/>
            <a:ext cx="7589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Mean track embeddings per camera  ·  Cosine similarity clustering (threshold 0.35)  ·  Temporal overlap blocking within same camera  ·  IDF1 evaluation on Wildtrack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23960" y="1298448"/>
            <a:ext cx="3017520" cy="5166360"/>
          </a:xfrm>
          <a:prstGeom prst="rect">
            <a:avLst/>
          </a:prstGeom>
          <a:solidFill>
            <a:srgbClr val="F1F5F9"/>
          </a:solidFill>
          <a:ln w="6350">
            <a:solidFill>
              <a:srgbClr val="1D4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3960" y="1298448"/>
            <a:ext cx="3017520" cy="329184"/>
          </a:xfrm>
          <a:prstGeom prst="rect">
            <a:avLst/>
          </a:prstGeom>
          <a:solidFill>
            <a:srgbClr val="0F2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15400" y="1344168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DATASETS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87968" y="1783080"/>
            <a:ext cx="2834640" cy="301752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42832" y="1828800"/>
            <a:ext cx="2743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Market-1501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42832" y="213969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Re-ID Training &amp; Eval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42832" y="2404872"/>
            <a:ext cx="2743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751 train IDs</a:t>
            </a:r>
          </a:p>
          <a:p>
            <a:pPr algn="l"/>
            <a:r>
              <a:rPr sz="1000" b="0" i="0">
                <a:solidFill>
                  <a:srgbClr val="1F2937"/>
                </a:solidFill>
              </a:rPr>
              <a:t>750 test IDs, 1,501 total identities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7968" y="3300984"/>
            <a:ext cx="2834640" cy="301752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42832" y="3346703"/>
            <a:ext cx="2743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MOT17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42832" y="36576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Single-Camera Tracking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42832" y="3922776"/>
            <a:ext cx="2743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7 train sequences</a:t>
            </a:r>
          </a:p>
          <a:p>
            <a:pPr algn="l"/>
            <a:r>
              <a:rPr sz="1000" b="0" i="0">
                <a:solidFill>
                  <a:srgbClr val="1F2937"/>
                </a:solidFill>
              </a:rPr>
              <a:t>TrackEval CLEAR / HOTA / Identity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87968" y="4818888"/>
            <a:ext cx="2834640" cy="301752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42832" y="4864607"/>
            <a:ext cx="2743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Wildtrack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42832" y="5175503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Cross-Camera Matching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42832" y="5440679"/>
            <a:ext cx="2743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7 synced cameras, outdoor plaza</a:t>
            </a:r>
          </a:p>
          <a:p>
            <a:pPr algn="l"/>
            <a:r>
              <a:rPr sz="1000" b="0" i="0">
                <a:solidFill>
                  <a:srgbClr val="1F2937"/>
                </a:solidFill>
              </a:rPr>
              <a:t>400+ annotated pedestrians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2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21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04672"/>
            <a:ext cx="11521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B4D8"/>
                </a:solidFill>
              </a:rPr>
              <a:t>End-to-End Pipeline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288036" y="2148840"/>
            <a:ext cx="1737360" cy="1005840"/>
          </a:xfrm>
          <a:prstGeom prst="rect">
            <a:avLst/>
          </a:prstGeom>
          <a:solidFill>
            <a:srgbClr val="0F2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" y="2221992"/>
            <a:ext cx="160934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" y="2532888"/>
            <a:ext cx="1609343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Video Frames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" y="2816352"/>
            <a:ext cx="16459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3C5FD"/>
                </a:solidFill>
              </a:rPr>
              <a:t>All camera streams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2828" y="2496312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0F274D"/>
                </a:solidFill>
              </a:rPr>
              <a:t>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63140" y="2148840"/>
            <a:ext cx="1737360" cy="100584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6292" y="2221992"/>
            <a:ext cx="160934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YOLOv8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6292" y="2532888"/>
            <a:ext cx="1609343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18004" y="2816352"/>
            <a:ext cx="16459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3C5FD"/>
                </a:solidFill>
              </a:rPr>
              <a:t>Person class filter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7932" y="2496312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0F274D"/>
                </a:solidFill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38244" y="2148840"/>
            <a:ext cx="1737360" cy="100584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11396" y="2221992"/>
            <a:ext cx="160934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1396" y="2532888"/>
            <a:ext cx="1609343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Tracker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3108" y="2816352"/>
            <a:ext cx="16459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3C5FD"/>
                </a:solidFill>
              </a:rPr>
              <a:t>Kalman + Hungarian IoU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03036" y="2496312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0F274D"/>
                </a:solidFill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3348" y="2148840"/>
            <a:ext cx="1737360" cy="1005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86500" y="2221992"/>
            <a:ext cx="160934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Re-ID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500" y="2532888"/>
            <a:ext cx="1609343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Feature Extractor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8212" y="2816352"/>
            <a:ext cx="16459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3C5FD"/>
                </a:solidFill>
              </a:rPr>
              <a:t>ResNet-50 BNNeck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78140" y="2496312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0F274D"/>
                </a:solidFill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8452" y="2148840"/>
            <a:ext cx="1737360" cy="1005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61604" y="2221992"/>
            <a:ext cx="160934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DeepSORT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1604" y="2532888"/>
            <a:ext cx="1609343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Cascade Matcher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3316" y="2816352"/>
            <a:ext cx="16459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3C5FD"/>
                </a:solidFill>
              </a:rPr>
              <a:t>Appearance + IoU gate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47404" y="3154680"/>
            <a:ext cx="27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F274D"/>
                </a:solidFill>
              </a:rPr>
              <a:t>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8452" y="4480560"/>
            <a:ext cx="1737360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61604" y="4553712"/>
            <a:ext cx="160934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Track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1604" y="4873752"/>
            <a:ext cx="1609343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Galleries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3316" y="5157216"/>
            <a:ext cx="16459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3C5FD"/>
                </a:solidFill>
              </a:rPr>
              <a:t>.npz embed stores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3348" y="4480560"/>
            <a:ext cx="1737360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6500" y="4553712"/>
            <a:ext cx="160934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Cross-Camera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6500" y="4873752"/>
            <a:ext cx="1609343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Matcher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8212" y="5157216"/>
            <a:ext cx="16459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3C5FD"/>
                </a:solidFill>
              </a:rPr>
              <a:t>Cosine sim cluster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38244" y="4480560"/>
            <a:ext cx="1737360" cy="10058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11396" y="4553712"/>
            <a:ext cx="160934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Global ID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11396" y="4873752"/>
            <a:ext cx="1609343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3108" y="5157216"/>
            <a:ext cx="16459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3C5FD"/>
                </a:solidFill>
              </a:rPr>
              <a:t>Annotated video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163556" y="4480560"/>
            <a:ext cx="1737360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36708" y="4553712"/>
            <a:ext cx="160934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274D"/>
                </a:solidFill>
              </a:rPr>
              <a:t>Wildtrack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36708" y="4873752"/>
            <a:ext cx="1609343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274D"/>
                </a:solidFill>
              </a:rPr>
              <a:t>Evaluator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18420" y="5157216"/>
            <a:ext cx="164591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1F2937"/>
                </a:solidFill>
              </a:rPr>
              <a:t>IDF1 / IDP / IDR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9852" y="4828032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0F274D"/>
                </a:solidFill>
              </a:rPr>
              <a:t>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84748" y="4828032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0F274D"/>
                </a:solidFill>
              </a:rPr>
              <a:t>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52660" y="4828032"/>
            <a:ext cx="256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59E0B"/>
                </a:solidFill>
              </a:rPr>
              <a:t>←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6016752"/>
            <a:ext cx="11548872" cy="530352"/>
          </a:xfrm>
          <a:prstGeom prst="rect">
            <a:avLst/>
          </a:prstGeom>
          <a:solidFill>
            <a:srgbClr val="F1F5F9"/>
          </a:solidFill>
          <a:ln w="5080">
            <a:solidFill>
              <a:srgbClr val="1D4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60807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74D"/>
                </a:solidFill>
              </a:rPr>
              <a:t>Legend: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463040" y="6144768"/>
            <a:ext cx="201168" cy="201168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719072" y="61081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Detection / Tracking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383280" y="6144768"/>
            <a:ext cx="201168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39312" y="61081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Appearance / Re-ID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6144768"/>
            <a:ext cx="201168" cy="2011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513832" y="61081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Cross-Camera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58000" y="6144768"/>
            <a:ext cx="201168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114032" y="61081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Output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366760" y="6144768"/>
            <a:ext cx="201168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22792" y="61081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Evaluation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2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21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Detection 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04672"/>
            <a:ext cx="11521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B4D8"/>
                </a:solidFill>
              </a:rPr>
              <a:t>YOLOv8 Person Detection — Implementation &amp; Ablation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98448"/>
            <a:ext cx="5577840" cy="5120640"/>
          </a:xfrm>
          <a:prstGeom prst="rect">
            <a:avLst/>
          </a:prstGeom>
          <a:solidFill>
            <a:srgbClr val="EBF4FF"/>
          </a:solidFill>
          <a:ln w="7620">
            <a:solidFill>
              <a:srgbClr val="1D4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98448"/>
            <a:ext cx="5577840" cy="32918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344168"/>
            <a:ext cx="5440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YOLOv8 IMPLEMENTATION DETAILS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29384"/>
            <a:ext cx="100584" cy="10058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801368"/>
            <a:ext cx="10927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</a:rPr>
              <a:t>Framework: Ultralytics YOLOv8 (Python package)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633472"/>
            <a:ext cx="100584" cy="10058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2505456"/>
            <a:ext cx="10927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</a:rPr>
              <a:t>Filtering: Person-class only  (class_id = 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337560"/>
            <a:ext cx="100584" cy="10058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3209544"/>
            <a:ext cx="10927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</a:rPr>
              <a:t>Confidence threshold: 0.5  ·  NMS IoU: 0.45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041648"/>
            <a:ext cx="100584" cy="10058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913632"/>
            <a:ext cx="10927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</a:rPr>
              <a:t>Input: 1080p video frames or pre-extracted frame sequences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745736"/>
            <a:ext cx="100584" cy="10058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4617720"/>
            <a:ext cx="10927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</a:rPr>
              <a:t>Output: Bounding boxes [x₁, y₁, x₂, y₂] + confidence scores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449824"/>
            <a:ext cx="100584" cy="10058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5321808"/>
            <a:ext cx="10927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</a:rPr>
              <a:t>Implementation: PersonDetector wrapper class with batch API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153912"/>
            <a:ext cx="100584" cy="10058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6025896"/>
            <a:ext cx="10927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</a:rPr>
              <a:t>SORT integration: detections fed per frame into Kalman tracker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1298448"/>
            <a:ext cx="5669280" cy="2148840"/>
          </a:xfrm>
          <a:prstGeom prst="rect">
            <a:avLst/>
          </a:prstGeom>
          <a:solidFill>
            <a:srgbClr val="F1F5F9"/>
          </a:solidFill>
          <a:ln w="7620">
            <a:solidFill>
              <a:srgbClr val="0F2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1298448"/>
            <a:ext cx="5669280" cy="329184"/>
          </a:xfrm>
          <a:prstGeom prst="rect">
            <a:avLst/>
          </a:prstGeom>
          <a:solidFill>
            <a:srgbClr val="0F2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1344168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INFERENCE SPEED AT 1080p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263640" y="1700784"/>
          <a:ext cx="544068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0170"/>
                <a:gridCol w="1360170"/>
                <a:gridCol w="1360170"/>
                <a:gridCol w="1360170"/>
              </a:tblGrid>
              <a:tr h="47244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0F27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FPS</a:t>
                      </a:r>
                    </a:p>
                  </a:txBody>
                  <a:tcPr>
                    <a:solidFill>
                      <a:srgbClr val="0F27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Parameters</a:t>
                      </a:r>
                    </a:p>
                  </a:txBody>
                  <a:tcPr>
                    <a:solidFill>
                      <a:srgbClr val="0F27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Decision</a:t>
                      </a:r>
                    </a:p>
                  </a:txBody>
                  <a:tcPr>
                    <a:solidFill>
                      <a:srgbClr val="0F274D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yolov8n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~30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3.2 M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Speed baseline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yolov8m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~15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25.9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✓  Selected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6172200" y="3547872"/>
            <a:ext cx="5669280" cy="2852928"/>
          </a:xfrm>
          <a:prstGeom prst="rect">
            <a:avLst/>
          </a:prstGeom>
          <a:solidFill>
            <a:srgbClr val="E0F7FA"/>
          </a:solidFill>
          <a:ln w="762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3547872"/>
            <a:ext cx="5669280" cy="3291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3593591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MOT17 DETECTION ABLATION (SORT tracker, 7 sequences)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91072" y="3959352"/>
            <a:ext cx="5440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F2937"/>
                </a:solidFill>
              </a:rPr>
              <a:t>Effect of swapping the detection backbone on downstream tracking quality: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6263640" y="4498848"/>
          <a:ext cx="544068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0170"/>
                <a:gridCol w="1360170"/>
                <a:gridCol w="1360170"/>
                <a:gridCol w="136017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Detector swap</a:t>
                      </a:r>
                    </a:p>
                  </a:txBody>
                  <a:tcPr>
                    <a:solidFill>
                      <a:srgbClr val="0F27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Δ MOTA</a:t>
                      </a:r>
                    </a:p>
                  </a:txBody>
                  <a:tcPr>
                    <a:solidFill>
                      <a:srgbClr val="0F27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Δ IDF1</a:t>
                      </a:r>
                    </a:p>
                  </a:txBody>
                  <a:tcPr>
                    <a:solidFill>
                      <a:srgbClr val="0F27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Primary reason</a:t>
                      </a:r>
                    </a:p>
                  </a:txBody>
                  <a:tcPr>
                    <a:solidFill>
                      <a:srgbClr val="0F27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yolov8n → yolov8m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+4.2%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+4.8%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Fewer missed detections in dense scenes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6291072" y="5440680"/>
            <a:ext cx="5440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</a:rPr>
              <a:t>→  yolov8m locked in as the final detector across all experiments.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91072" y="5897880"/>
            <a:ext cx="5440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Note: Detection ablation was critical — missed detections in dense scenes</a:t>
            </a:r>
          </a:p>
          <a:p>
            <a:pPr algn="l"/>
            <a:r>
              <a:rPr sz="1100" b="0" i="1">
                <a:solidFill>
                  <a:srgbClr val="64748B"/>
                </a:solidFill>
              </a:rPr>
              <a:t>cause fragmented tracks and elevated ID switches regardless of tracker choice.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2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21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Person Re-Identification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04672"/>
            <a:ext cx="11521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B4D8"/>
                </a:solidFill>
              </a:rPr>
              <a:t>ResNet-50 + BNNeck Architecture  ·  Market-1501 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98448"/>
            <a:ext cx="5212080" cy="5120640"/>
          </a:xfrm>
          <a:prstGeom prst="rect">
            <a:avLst/>
          </a:prstGeom>
          <a:solidFill>
            <a:srgbClr val="EBF4FF"/>
          </a:solidFill>
          <a:ln w="7620">
            <a:solidFill>
              <a:srgbClr val="1D4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98448"/>
            <a:ext cx="5212080" cy="32918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34416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MODEL ARCHITECTURE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92224"/>
            <a:ext cx="1664208" cy="36576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837943"/>
            <a:ext cx="1627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Input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31136" y="1837943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128×64 RGB  (standard Market-1501 resolution)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157984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B4D8"/>
                </a:solidFill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51176"/>
            <a:ext cx="1664208" cy="36576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2596896"/>
            <a:ext cx="1627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Backbone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31136" y="2596896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ResNet-50 (ImageNet V2 pretrained)  ·  Last stride =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2916936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B4D8"/>
                </a:solidFill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310128"/>
            <a:ext cx="1664208" cy="36576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3355848"/>
            <a:ext cx="1627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Global Avg Pool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31136" y="3355848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Reduces spatial dims → 2048-D feature vector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" y="3675888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B4D8"/>
                </a:solidFill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69079"/>
            <a:ext cx="1664208" cy="36576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4114799"/>
            <a:ext cx="1627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BNNeck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1136" y="4114799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Batch-Norm neck  —  separates ID-loss &amp; metric-loss spaces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8" y="4434840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B4D8"/>
                </a:solidFill>
              </a:rP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828031"/>
            <a:ext cx="1664208" cy="36576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" y="4873751"/>
            <a:ext cx="1627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Embedding Head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31136" y="4873751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Linear → 512-D  ·  L2-normalized at inference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008" y="5193792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B4D8"/>
                </a:solidFill>
              </a:rPr>
              <a:t>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586983"/>
            <a:ext cx="1664208" cy="36576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" y="5632703"/>
            <a:ext cx="1627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Classifier Head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31136" y="5632703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Linear(512 → num_ids)  ·  Only active during training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60720" y="1298448"/>
            <a:ext cx="6080760" cy="2633472"/>
          </a:xfrm>
          <a:prstGeom prst="rect">
            <a:avLst/>
          </a:prstGeom>
          <a:solidFill>
            <a:srgbClr val="F1F5F9"/>
          </a:solidFill>
          <a:ln w="7620">
            <a:solidFill>
              <a:srgbClr val="0F2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60720" y="1298448"/>
            <a:ext cx="6080760" cy="329184"/>
          </a:xfrm>
          <a:prstGeom prst="rect">
            <a:avLst/>
          </a:prstGeom>
          <a:solidFill>
            <a:srgbClr val="0F2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52159" y="134416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TRAINING CONFIGURATION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1892807"/>
            <a:ext cx="100584" cy="100584"/>
          </a:xfrm>
          <a:prstGeom prst="rect">
            <a:avLst/>
          </a:prstGeom>
          <a:solidFill>
            <a:srgbClr val="0F2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44768" y="1764792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Dataset: Market-1501  (751 train IDs  /  3,368 queries)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0" y="2249424"/>
            <a:ext cx="100584" cy="100584"/>
          </a:xfrm>
          <a:prstGeom prst="rect">
            <a:avLst/>
          </a:prstGeom>
          <a:solidFill>
            <a:srgbClr val="0F2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44768" y="2121408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Sampler: P=16 identities × K=4 images per mini-batch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2606040"/>
            <a:ext cx="100584" cy="100584"/>
          </a:xfrm>
          <a:prstGeom prst="rect">
            <a:avLst/>
          </a:prstGeom>
          <a:solidFill>
            <a:srgbClr val="0F2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44768" y="2478024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Epochs: 60  (+ 10-epoch linear LR warmup)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0" y="2962656"/>
            <a:ext cx="100584" cy="100584"/>
          </a:xfrm>
          <a:prstGeom prst="rect">
            <a:avLst/>
          </a:prstGeom>
          <a:solidFill>
            <a:srgbClr val="0F2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44768" y="2834639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Optimizer: Adam  ·  Base LR: 3.5 × 10⁻⁴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0" y="3319272"/>
            <a:ext cx="100584" cy="100584"/>
          </a:xfrm>
          <a:prstGeom prst="rect">
            <a:avLst/>
          </a:prstGeom>
          <a:solidFill>
            <a:srgbClr val="0F2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44768" y="3191256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LR schedule: ×0.1 at epoch 30 and epoch 50 (step decay)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0" y="3675887"/>
            <a:ext cx="100584" cy="100584"/>
          </a:xfrm>
          <a:prstGeom prst="rect">
            <a:avLst/>
          </a:prstGeom>
          <a:solidFill>
            <a:srgbClr val="0F2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44768" y="3547872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Hardware: Apple MPS  (M-series GPU)  ≈ 50 min total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760720" y="4041648"/>
            <a:ext cx="6080760" cy="2377440"/>
          </a:xfrm>
          <a:prstGeom prst="rect">
            <a:avLst/>
          </a:prstGeom>
          <a:solidFill>
            <a:srgbClr val="E0F7FA"/>
          </a:solidFill>
          <a:ln w="762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760720" y="4041648"/>
            <a:ext cx="6080760" cy="3291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852159" y="408736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COMBINED LOSS FUNCTION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52160" y="4498848"/>
            <a:ext cx="5897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F274D"/>
                </a:solidFill>
              </a:rPr>
              <a:t>L_total  =  L_ID  +  L_triplet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52160" y="5047488"/>
            <a:ext cx="5897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L_ID  :  Label-smoothed Cross-Entropy  (ε = 0.1)</a:t>
            </a:r>
          </a:p>
          <a:p>
            <a:pPr algn="l"/>
            <a:r>
              <a:rPr sz="1200" b="0" i="0">
                <a:solidFill>
                  <a:srgbClr val="1F2937"/>
                </a:solidFill>
              </a:rPr>
              <a:t>L_triplet  :  Batch-hard Triplet Loss  (margin α = 0.3)</a:t>
            </a:r>
          </a:p>
          <a:p>
            <a:pPr algn="l"/>
            <a:r>
              <a:rPr sz="1200" b="0" i="0">
                <a:solidFill>
                  <a:srgbClr val="1F2937"/>
                </a:solidFill>
              </a:rPr>
              <a:t>    — MPS-safe out-of-place Euclidean distance</a:t>
            </a:r>
          </a:p>
          <a:p>
            <a:pPr algn="l"/>
            <a:r>
              <a:rPr sz="1200" b="0" i="0">
                <a:solidFill>
                  <a:srgbClr val="1F2937"/>
                </a:solidFill>
              </a:rPr>
              <a:t>    — Epsilon in sqrt for gradient stability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2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21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Model Training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04672"/>
            <a:ext cx="11521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B4D8"/>
                </a:solidFill>
              </a:rPr>
              <a:t>Re-ID on Market-1501  ·  Tracking Ablation on MOT17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98448"/>
            <a:ext cx="11548872" cy="329184"/>
          </a:xfrm>
          <a:prstGeom prst="rect">
            <a:avLst/>
          </a:prstGeom>
          <a:solidFill>
            <a:srgbClr val="0F2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344168"/>
            <a:ext cx="11411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RE-ID EVALUATION — Market-1501 Standard Protocol  (Query: 3,368 images  ·  Gallery: 19,732 images)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691640"/>
          <a:ext cx="11548872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9838"/>
                <a:gridCol w="1649838"/>
                <a:gridCol w="1649838"/>
                <a:gridCol w="1649838"/>
                <a:gridCol w="1649838"/>
                <a:gridCol w="1649838"/>
                <a:gridCol w="1649844"/>
              </a:tblGrid>
              <a:tr h="393192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Model / Config</a:t>
                      </a:r>
                    </a:p>
                  </a:txBody>
                  <a:tcPr>
                    <a:solidFill>
                      <a:srgbClr val="0F27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Rank-1 ↑</a:t>
                      </a:r>
                    </a:p>
                  </a:txBody>
                  <a:tcPr>
                    <a:solidFill>
                      <a:srgbClr val="0F27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Rank-5 ↑</a:t>
                      </a:r>
                    </a:p>
                  </a:txBody>
                  <a:tcPr>
                    <a:solidFill>
                      <a:srgbClr val="0F27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Rank-10 ↑</a:t>
                      </a:r>
                    </a:p>
                  </a:txBody>
                  <a:tcPr>
                    <a:solidFill>
                      <a:srgbClr val="0F27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mAP ↑</a:t>
                      </a:r>
                    </a:p>
                  </a:txBody>
                  <a:tcPr>
                    <a:solidFill>
                      <a:srgbClr val="0F27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Epochs</a:t>
                      </a:r>
                    </a:p>
                  </a:txBody>
                  <a:tcPr>
                    <a:solidFill>
                      <a:srgbClr val="0F27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Optimizer</a:t>
                      </a:r>
                    </a:p>
                  </a:txBody>
                  <a:tcPr>
                    <a:solidFill>
                      <a:srgbClr val="0F274D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Ours  (ResNet-50 + BNNeck)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89.3%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~96.1%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~97.4%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~74.3%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Adam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10-epoch checkpoint (ours)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58.7%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Adam (warmup)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AGW Reference (SOTA)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95.1%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87.8%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120+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SGD + Center Loss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337560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57A"/>
                </a:solidFill>
              </a:rPr>
              <a:t>Note: The gap vs. SOTA is intentional — 60 vs. 120+ epochs, Adam vs. SGD, no center loss.  Rank-1 = 89.3% is fully sufficient for DeepSORT appearance-gallery matching.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794760"/>
            <a:ext cx="11548872" cy="566928"/>
          </a:xfrm>
          <a:prstGeom prst="rect">
            <a:avLst/>
          </a:prstGeom>
          <a:solidFill>
            <a:srgbClr val="FFF9C4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3500"/>
                </a:solidFill>
              </a:rPr>
              <a:t>⚠  Training insight: combined CE + triplet with 10-epoch warmup suppresses early mAP (&lt; 10%) — easily misread as a broken pipeline.  The 58.7% mAP at epoch 10 confirmed the training trajectory was healthy.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4462272"/>
            <a:ext cx="11548872" cy="32918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4507992"/>
            <a:ext cx="11411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SINGLE-CAMERA TRACKING — MOT17 Train  (TrackEval: HOTA / CLEAR / Identity)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4864608"/>
          <a:ext cx="11548872" cy="1627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9838"/>
                <a:gridCol w="1649838"/>
                <a:gridCol w="1649838"/>
                <a:gridCol w="1649838"/>
                <a:gridCol w="1649838"/>
                <a:gridCol w="1649838"/>
                <a:gridCol w="1649844"/>
              </a:tblGrid>
              <a:tr h="406908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Detector</a:t>
                      </a:r>
                    </a:p>
                  </a:txBody>
                  <a:tcPr>
                    <a:solidFill>
                      <a:srgbClr val="0F27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Tracker</a:t>
                      </a:r>
                    </a:p>
                  </a:txBody>
                  <a:tcPr>
                    <a:solidFill>
                      <a:srgbClr val="0F27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MOTA ↑</a:t>
                      </a:r>
                    </a:p>
                  </a:txBody>
                  <a:tcPr>
                    <a:solidFill>
                      <a:srgbClr val="0F27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IDF1 ↑</a:t>
                      </a:r>
                    </a:p>
                  </a:txBody>
                  <a:tcPr>
                    <a:solidFill>
                      <a:srgbClr val="0F27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HOTA ↑</a:t>
                      </a:r>
                    </a:p>
                  </a:txBody>
                  <a:tcPr>
                    <a:solidFill>
                      <a:srgbClr val="0F27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ID Switches ↓</a:t>
                      </a:r>
                    </a:p>
                  </a:txBody>
                  <a:tcPr>
                    <a:solidFill>
                      <a:srgbClr val="0F27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0F274D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yolov8n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SORT (baseline)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Base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Base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Speed-optimised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yolov8m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SORT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+4.2%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+4.8%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Fewer missed dets in dense scenes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yolov8m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DeepSORT *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+est. 5–10%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+est. 5–10%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TBD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↓ (significant)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937"/>
                          </a:solidFill>
                        </a:rPr>
                        <a:t>Appearance gallery reduces IDSW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57200" y="655624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* DeepSORT improvement is estimated from cascade-matching theory; final TrackEval run pending GPU resources.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2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21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Model Testing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04672"/>
            <a:ext cx="11521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B4D8"/>
                </a:solidFill>
              </a:rPr>
              <a:t>Tracker Comparison  ·  Cross-Camera Evaluation on Wildtrack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98448"/>
            <a:ext cx="5577840" cy="5120640"/>
          </a:xfrm>
          <a:prstGeom prst="rect">
            <a:avLst/>
          </a:prstGeom>
          <a:solidFill>
            <a:srgbClr val="EBF4FF"/>
          </a:solidFill>
          <a:ln w="7620">
            <a:solidFill>
              <a:srgbClr val="1D4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98448"/>
            <a:ext cx="5577840" cy="32918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344168"/>
            <a:ext cx="5440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SORT  vs  DeepSORT — MOT17 Train Sequences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6479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74D"/>
                </a:solidFill>
              </a:rPr>
              <a:t>SORT Algorithm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67712"/>
            <a:ext cx="100584" cy="10058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139696"/>
            <a:ext cx="10927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Pure IoU-based association via Hungarian algorithm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770632"/>
            <a:ext cx="100584" cy="10058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2642615"/>
            <a:ext cx="10927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7-D Kalman state: [cx, cy, s, r, ẋ, ṵ, ṡ]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273552"/>
            <a:ext cx="100584" cy="10058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3145536"/>
            <a:ext cx="10927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Fast and lightweight — no appearance model required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776472"/>
            <a:ext cx="100584" cy="10058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3648456"/>
            <a:ext cx="10927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Weakness: ID switches during occlusion or re-appearance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26110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74D"/>
                </a:solidFill>
              </a:rPr>
              <a:t>DeepSORT Algorithm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764024"/>
            <a:ext cx="100584" cy="1005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4636008"/>
            <a:ext cx="10927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Stage 1: Appearance gallery match (cosine distance ≤ 0.4)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266944"/>
            <a:ext cx="100584" cy="1005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5138928"/>
            <a:ext cx="10927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Stage 2: IoU gate for unmatched detections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769864"/>
            <a:ext cx="100584" cy="1005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5641848"/>
            <a:ext cx="10927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Uses trained Re-ID embeddings  (Rank-1 = 89.3%)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272784"/>
            <a:ext cx="100584" cy="1005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" y="6144768"/>
            <a:ext cx="10927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Expected: significant reduction in identity switches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1298448"/>
            <a:ext cx="5669280" cy="5120640"/>
          </a:xfrm>
          <a:prstGeom prst="rect">
            <a:avLst/>
          </a:prstGeom>
          <a:solidFill>
            <a:srgbClr val="F1F5F9"/>
          </a:solidFill>
          <a:ln w="762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1298448"/>
            <a:ext cx="5669280" cy="3291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1344168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CROSS-CAMERA MATCHING — Wildtrack Dataset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27648" y="1929384"/>
            <a:ext cx="100584" cy="1005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28816" y="1801368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Dataset: Wildtrack (7 synchronized outdoor cameras)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27648" y="2587752"/>
            <a:ext cx="100584" cy="1005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28816" y="2459736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Per-camera: SORT + DeepSORT tracking pipeline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27648" y="3246120"/>
            <a:ext cx="100584" cy="1005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28816" y="3118104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Track galleries saved as .npz (embeddings + timestamps)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27648" y="3904487"/>
            <a:ext cx="100584" cy="1005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28816" y="3776472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Matcher: Average-linkage cosine distance clustering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27648" y="4562855"/>
            <a:ext cx="100584" cy="1005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28816" y="4434840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Constraint: Temporal overlap blocks same-camera merges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27648" y="5221223"/>
            <a:ext cx="100584" cy="1005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28816" y="5093207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Output: Global person ID per (camera, local_track_id) pair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2200" y="5888736"/>
            <a:ext cx="5669280" cy="347472"/>
          </a:xfrm>
          <a:prstGeom prst="rect">
            <a:avLst/>
          </a:prstGeom>
          <a:solidFill>
            <a:srgbClr val="0F2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91072" y="5925312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EVALUATION METRICS: IDP · IDR · IDF1 (MOT Challenge annotations)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91072" y="62910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F2937"/>
                </a:solidFill>
              </a:rPr>
              <a:t>Full results pending final Wildtrack evaluation run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437376"/>
            <a:ext cx="557784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5488" y="647395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74D"/>
                </a:solidFill>
              </a:rPr>
              <a:t>▶  Video / Live Demo available during presentation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2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21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Learnings &amp;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04672"/>
            <a:ext cx="11521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B4D8"/>
                </a:solidFill>
              </a:rPr>
              <a:t>Reflections Across the Full Project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53312"/>
            <a:ext cx="438912" cy="4389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34416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0F274D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325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74D"/>
                </a:solidFill>
              </a:rPr>
              <a:t>Modular Engineering Accelerates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700784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Separating detection, tracking, Re-ID, and cross-camera into independent packages with 30+ unit tests enabled parallel contributions and fast, isolated debugging throughout the project.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359152"/>
            <a:ext cx="438912" cy="4389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35000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0F274D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331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74D"/>
                </a:solidFill>
              </a:rPr>
              <a:t>Metric-Loss Warmup Suppresses Early Signals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706624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Combined CE + triplet with a 10-epoch warmup causes mAP to appear below 10% early on — easily misread as a broken pipeline. Trajectory analysis (58.7% mAP at epoch 10) confirmed correctness.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364992"/>
            <a:ext cx="438912" cy="4389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335584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0F274D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3337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74D"/>
                </a:solidFill>
              </a:rPr>
              <a:t>Platform-Specific Autograd Bugs Are Real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712464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Apple MPS rejected in-place ops in triplet loss backward pass. Rewriting with out-of-place operations and epsilon-in-sqrt fixed gradient stability without changing the loss semantics.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370832"/>
            <a:ext cx="438912" cy="4389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436168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0F274D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4343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74D"/>
                </a:solidFill>
              </a:rPr>
              <a:t>Library Version Compatibility Matters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4718304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NumPy ≥ 1.24 removed np.float, silently breaking TrackEval. A tiny compatibility shim (restoring deprecated aliases before import) solved it with zero fork and no version downgrade.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376672"/>
            <a:ext cx="438912" cy="4389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536752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0F274D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5349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74D"/>
                </a:solidFill>
              </a:rPr>
              <a:t>Good-Enough Embeddings Unlock Downstream Tasks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5724144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A simplified Re-ID model (Rank-1 = 89.3%) is sufficient for DeepSORT gallery matching, demonstrating diminishing returns once a practical quality threshold is crossed.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2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21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Project Shortcomings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04672"/>
            <a:ext cx="11521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B4D8"/>
                </a:solidFill>
              </a:rPr>
              <a:t>Honest Assessment of Limitations and Future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53312"/>
            <a:ext cx="438912" cy="43891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34416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325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91C1C"/>
                </a:solidFill>
              </a:rPr>
              <a:t>FAISS Not Implemented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700784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config.yaml lists use_faiss: true and faiss-cpu is a declared dependency, but no Python source references FAISS. The cross-camera matcher uses brute-force numpy clustering that scales poorly with large track counts.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359152"/>
            <a:ext cx="438912" cy="43891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35000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331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91C1C"/>
                </a:solidFill>
              </a:rPr>
              <a:t>Config / Script Parameter Inconsistency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706624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default.yaml specifies embedding_dim: 512 and similarity_threshold: 0.7, but training scripts default to 256-D and the matcher defaults to 0.35. These mismatches were never reconciled before the final run.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364992"/>
            <a:ext cx="438912" cy="43891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335584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3337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91C1C"/>
                </a:solidFill>
              </a:rPr>
              <a:t>No Committed Outputs or Reproducibility Artifacts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712464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README references a notebooks/ directory and rich output trees; neither exists in the repo. Reproducing plots and metrics requires a full local dataset installation — not trivially verifiable by reviewers.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370832"/>
            <a:ext cx="438912" cy="43891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436168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4343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91C1C"/>
                </a:solidFill>
              </a:rPr>
              <a:t>DeepSORT / Wildtrack Final Metrics Pending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4718304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Due to time constraints, DeepSORT MOT17 numbers and Wildtrack cross-camera IDF1 are estimated rather than computed from actual runs. A final GPU evaluation pass was planned but not completed.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376672"/>
            <a:ext cx="438912" cy="43891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536752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5349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91C1C"/>
                </a:solidFill>
              </a:rPr>
              <a:t>Limited Cross-Camera Diversity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5724144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Wildtrack (7 synchronized cameras, single outdoor scene) may not generalize to asynchronous or multi-scene cameras. No ablations were run on frame-rate variation, viewpoint extremes, or indoor scenarios.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2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21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Helpful Resources &amp; Citations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04672"/>
            <a:ext cx="11521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B4D8"/>
                </a:solidFill>
              </a:rPr>
              <a:t>Tools  ·  Datasets  ·  Research Papers (APA Format)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98448"/>
            <a:ext cx="5212080" cy="5120640"/>
          </a:xfrm>
          <a:prstGeom prst="rect">
            <a:avLst/>
          </a:prstGeom>
          <a:solidFill>
            <a:srgbClr val="EBF4FF"/>
          </a:solidFill>
          <a:ln w="7620">
            <a:solidFill>
              <a:srgbClr val="1D4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98448"/>
            <a:ext cx="5212080" cy="32918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344168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TOOLS, LIBRARIES &amp; REPOSITORIES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20240"/>
            <a:ext cx="100584" cy="10058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792224"/>
            <a:ext cx="10927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Ultralytics YOLOv8 — ultralytics/ultralytics (GitHub)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496312"/>
            <a:ext cx="100584" cy="10058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2368296"/>
            <a:ext cx="10927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PyTorch / torchvision — pytorch.org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072384"/>
            <a:ext cx="100584" cy="10058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944368"/>
            <a:ext cx="10927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TrackEval — JonathonLuiten/TrackEval (GitHub)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648456"/>
            <a:ext cx="100584" cy="10058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520440"/>
            <a:ext cx="10927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SORT (original) — abewley/sort (GitHub)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224528"/>
            <a:ext cx="100584" cy="10058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4096512"/>
            <a:ext cx="10927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FAISS — facebookresearch/faiss (GitHub)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800599"/>
            <a:ext cx="100584" cy="10058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4672583"/>
            <a:ext cx="10927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Market-1501 Dataset — Zheng et al., 2015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376672"/>
            <a:ext cx="100584" cy="10058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5248656"/>
            <a:ext cx="10927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MOT17 Benchmark — Milan et al., 2016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952744"/>
            <a:ext cx="100584" cy="100584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5824728"/>
            <a:ext cx="10927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Wildtrack Dataset — Chavdarova et al., 2018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720" y="1298448"/>
            <a:ext cx="6080760" cy="5120640"/>
          </a:xfrm>
          <a:prstGeom prst="rect">
            <a:avLst/>
          </a:prstGeom>
          <a:solidFill>
            <a:srgbClr val="F1F5F9"/>
          </a:solidFill>
          <a:ln w="7620">
            <a:solidFill>
              <a:srgbClr val="0F2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60720" y="1298448"/>
            <a:ext cx="6080760" cy="329184"/>
          </a:xfrm>
          <a:prstGeom prst="rect">
            <a:avLst/>
          </a:prstGeom>
          <a:solidFill>
            <a:srgbClr val="0F2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59" y="134416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KEY PAPERS — APA CITATIONS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70448" y="1764792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0F274D"/>
                </a:solidFill>
              </a:rPr>
              <a:t>Redmon, J., &amp; Farhadi, A. (2018).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70448" y="2020824"/>
            <a:ext cx="5852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YOLOv3: An incremental improvement. arXiv:1804.02767.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70448" y="256032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0F274D"/>
                </a:solidFill>
              </a:rPr>
              <a:t>Bewley, A., Ge, Z., Ott, L., Ramos, F., &amp; Upcroft, B. (2016).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70448" y="2816352"/>
            <a:ext cx="5852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Simple online and realtime tracking. Proc. IEEE ICIP 2016.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70448" y="3355848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0F274D"/>
                </a:solidFill>
              </a:rPr>
              <a:t>Wojke, N., Bewley, A., &amp; Paulus, D. (2017).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70448" y="3611880"/>
            <a:ext cx="5852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Simple online and realtime tracking with a deep association metric. Proc. IEEE ICIP 2017.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70448" y="4151376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0F274D"/>
                </a:solidFill>
              </a:rPr>
              <a:t>Luo, H., Gu, Y., Liao, X., Lai, S., &amp; Jiang, W. (2019).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70448" y="4407408"/>
            <a:ext cx="5852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Bag of tricks and a strong baseline for deep person re-identification. CVPR Workshops 2019.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70448" y="4946904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0F274D"/>
                </a:solidFill>
              </a:rPr>
              <a:t>Zheng, L., Shen, L., Tian, L., Wang, S., Wang, J., &amp; Tian, Q. (2015).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70448" y="5202936"/>
            <a:ext cx="5852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Scalable person re-identification: A benchmark. ICCV 2015.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70448" y="5742431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0F274D"/>
                </a:solidFill>
              </a:rPr>
              <a:t>Chavdarova, T., Baqué, P., Becker, S., Davydenko, A., et al. (2018).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70448" y="5998464"/>
            <a:ext cx="5852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</a:rPr>
              <a:t>WILDTRACK: A multi-camera HD dataset for dense unscripted pedestrian detection. CVPR 2018.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